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3716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1645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empírica: aportes hídricos 2010–2026 con eventos ENOS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19050">
            <a:solidFill>
              <a:srgbClr val="FFC00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3A3838"/>
          </a:solidFill>
          <a:ln w="12700">
            <a:solidFill>
              <a:srgbClr val="3A38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28600" y="491032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Ministerio de Minas y Energía — Subdirección de Análisis y Modelamiento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595360" y="491032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solidFill>
            <a:srgbClr val="3A3838"/>
          </a:solidFill>
          <a:ln w="12700">
            <a:solidFill>
              <a:srgbClr val="3A38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8869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reales XM — Sistema eléctrico colombiano. Zonas amarillas = eventos El Niño confirmados (2010, 2015-2016, 2023-2024).</a:t>
            </a:r>
            <a:endParaRPr lang="en-US" sz="1100" dirty="0"/>
          </a:p>
        </p:txBody>
      </p:sp>
      <p:pic>
        <p:nvPicPr>
          <p:cNvPr id="11" name="Image 1" descr="D:/Proyectos/minenergia/sddp/outputs/aportes_en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412480" cy="32918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65760" y="4544568"/>
            <a:ext cx="8412480" cy="274320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02920" y="4562856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los tres eventos El Niño, los aportes caen sistemáticamente hacia el umbral de alerta — justificando una política de reserva térmica anticipada.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3716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1645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estadístico de El Niño en los aportes hídricos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19050">
            <a:solidFill>
              <a:srgbClr val="FFC00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3A3838"/>
          </a:solidFill>
          <a:ln w="12700">
            <a:solidFill>
              <a:srgbClr val="3A38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28600" y="491032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Ministerio de Minas y Energía — Subdirección de Análisis y Modelamiento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595360" y="491032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solidFill>
            <a:srgbClr val="3A3838"/>
          </a:solidFill>
          <a:ln w="12700">
            <a:solidFill>
              <a:srgbClr val="3A38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8869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4.655 días en condiciones normales vs 1.007 días en eventos El Niño — datos XM 2010-2026.</a:t>
            </a:r>
            <a:endParaRPr lang="en-US" sz="1100" dirty="0"/>
          </a:p>
        </p:txBody>
      </p:sp>
      <p:pic>
        <p:nvPicPr>
          <p:cNvPr id="11" name="Image 1" descr="D:/Proyectos/minenergia/sddp/outputs/distribucion_nino_vs_norm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412480" cy="30175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65760" y="4462272"/>
            <a:ext cx="2697480" cy="384048"/>
          </a:xfrm>
          <a:prstGeom prst="rect">
            <a:avLst/>
          </a:prstGeom>
          <a:solidFill>
            <a:srgbClr val="1F6B8E"/>
          </a:solidFill>
          <a:ln w="12700">
            <a:solidFill>
              <a:srgbClr val="1F6B8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57200" y="448056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Promedio normal: 1.02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3200400" y="4462272"/>
            <a:ext cx="2697480" cy="384048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291840" y="448056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Promedio El Niño: 0.82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035040" y="4462272"/>
            <a:ext cx="2697480" cy="384048"/>
          </a:xfrm>
          <a:prstGeom prst="rect">
            <a:avLst/>
          </a:prstGeom>
          <a:solidFill>
            <a:srgbClr val="A00000"/>
          </a:solidFill>
          <a:ln w="12700">
            <a:solidFill>
              <a:srgbClr val="A0000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126480" y="448056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Reducción: −20%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3716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1645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Simulación Monte Carlo — 1.000 trayectorias Jul–Dic 2026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19050">
            <a:solidFill>
              <a:srgbClr val="FFC00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3A3838"/>
          </a:solidFill>
          <a:ln w="12700">
            <a:solidFill>
              <a:srgbClr val="3A38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28600" y="491032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Ministerio de Minas y Energía — Subdirección de Análisis y Modelamiento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595360" y="491032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solidFill>
            <a:srgbClr val="3A3838"/>
          </a:solidFill>
          <a:ln w="12700">
            <a:solidFill>
              <a:srgbClr val="3A38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8869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escenario El Niño, el rango 25-75% de trayectorias se acerca al umbral de alerta desde julio. En escenario normal el sistema opera con margen.</a:t>
            </a:r>
            <a:endParaRPr lang="en-US" sz="1100" dirty="0"/>
          </a:p>
        </p:txBody>
      </p:sp>
      <p:pic>
        <p:nvPicPr>
          <p:cNvPr id="11" name="Image 1" descr="D:/Proyectos/minenergia/sddp/outputs/montecarlo_trayectori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412480" cy="30175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65760" y="4462272"/>
            <a:ext cx="2697480" cy="384048"/>
          </a:xfrm>
          <a:prstGeom prst="rect">
            <a:avLst/>
          </a:prstGeom>
          <a:solidFill>
            <a:srgbClr val="1F6B8E"/>
          </a:solidFill>
          <a:ln w="12700">
            <a:solidFill>
              <a:srgbClr val="1F6B8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57200" y="448056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Escenarios simulados: 1.000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3200400" y="4462272"/>
            <a:ext cx="2697480" cy="384048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291840" y="448056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Horizonte: 6 meses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035040" y="4462272"/>
            <a:ext cx="2697480" cy="384048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126480" y="448056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actual: Moderado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3716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1645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CVaR y estado actual del sistema — junio 2026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19050">
            <a:solidFill>
              <a:srgbClr val="FFC00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3A3838"/>
          </a:solidFill>
          <a:ln w="12700">
            <a:solidFill>
              <a:srgbClr val="3A38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28600" y="491032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Ministerio de Minas y Energía — Subdirección de Análisis y Modelamiento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595360" y="491032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D4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solidFill>
            <a:srgbClr val="3A3838"/>
          </a:solidFill>
          <a:ln w="12700">
            <a:solidFill>
              <a:srgbClr val="3A38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8869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Hoy: aportes en 0.87 — por debajo del promedio normal (1.02) y cerca del promedio El Niño (0.82). Probabilidad de crisis: 14.7% normal / 26.8% El Niño.</a:t>
            </a:r>
            <a:endParaRPr lang="en-US" sz="1100" dirty="0"/>
          </a:p>
        </p:txBody>
      </p:sp>
      <p:pic>
        <p:nvPicPr>
          <p:cNvPr id="11" name="Image 1" descr="D:/Proyectos/minenergia/sddp/outputs/estado_actual_aport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412480" cy="1737360"/>
          </a:xfrm>
          <a:prstGeom prst="rect">
            <a:avLst/>
          </a:prstGeom>
        </p:spPr>
      </p:pic>
      <p:pic>
        <p:nvPicPr>
          <p:cNvPr id="12" name="Image 2" descr="D:/Proyectos/minenergia/sddp/outputs/riesgo_cv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154680"/>
            <a:ext cx="8412480" cy="13716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65760" y="4544568"/>
            <a:ext cx="8412480" cy="274320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02920" y="4562856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sistema opera hoy en zona moderada — a 0.05 puntos del promedio El Niño. Este modelo permite cuantificar el costo de ese riesgo.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2026-06-03T16:46:28Z</dcterms:created>
  <dcterms:modified xsi:type="dcterms:W3CDTF">2026-06-03T16:46:28Z</dcterms:modified>
</cp:coreProperties>
</file>