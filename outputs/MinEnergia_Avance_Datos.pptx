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04" autoAdjust="0"/>
  </p:normalViewPr>
  <p:slideViewPr>
    <p:cSldViewPr snapToGrid="0" snapToObjects="1">
      <p:cViewPr varScale="1">
        <p:scale>
          <a:sx n="194" d="100"/>
          <a:sy n="194" d="100"/>
        </p:scale>
        <p:origin x="756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38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8FBB9-2E3C-13EE-3B71-A9504261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F55B0-C7DE-F297-B16D-5F6DEB628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F6278-695C-8329-CF3F-AF277987C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B556D-65D9-6462-C0B1-C9D6A7B75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4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empírica: aportes hídricos 2010–2026 con eventos ENOS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 XM — Sistema eléctrico colombiano. Zonas amarillas = eventos El Niño confirmados (2010, 2015-2016, 2023-2024).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4544568"/>
            <a:ext cx="841248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502920" y="4562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tres eventos El Niño, los aportes caen sistemáticamente hacia el umbral de alerta — justificando una política de reserva térmica anticipada.</a:t>
            </a:r>
            <a:endParaRPr lang="en-US" sz="10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87BA177-05EF-6215-8F2E-D42C4F6A1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9" y="1518163"/>
            <a:ext cx="8412481" cy="2587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estadístico de El Niño en los aportes hídricos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4.655 días en condiciones normales vs 1.007 días en eventos El Niño — datos XM 2010-2026.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4462272"/>
            <a:ext cx="2697480" cy="384048"/>
          </a:xfrm>
          <a:prstGeom prst="rect">
            <a:avLst/>
          </a:prstGeom>
          <a:solidFill>
            <a:srgbClr val="1F6B8E"/>
          </a:solidFill>
          <a:ln w="12700">
            <a:solidFill>
              <a:srgbClr val="1F6B8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45720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normal: 1.02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0" y="4462272"/>
            <a:ext cx="269748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329184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El Niño: 0.82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4462272"/>
            <a:ext cx="2697480" cy="384048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612648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Reducción: −20%</a:t>
            </a:r>
            <a:endParaRPr lang="en-US" sz="1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E57A8DEC-4EFA-4DB4-9218-266735623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9" y="1405184"/>
            <a:ext cx="8417858" cy="3121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Monte Carlo — 1.000 trayectorias Jul–Dic 2026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escenario El Niño, el rango 25-75% de trayectorias se acerca al umbral de alerta desde julio. En escenario normal el sistema opera con margen.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4462272"/>
            <a:ext cx="2697480" cy="384048"/>
          </a:xfrm>
          <a:prstGeom prst="rect">
            <a:avLst/>
          </a:prstGeom>
          <a:solidFill>
            <a:srgbClr val="1F6B8E"/>
          </a:solidFill>
          <a:ln w="12700">
            <a:solidFill>
              <a:srgbClr val="1F6B8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45720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 simulados: 10.000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0" y="4462272"/>
            <a:ext cx="269748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329184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Horizonte: 6 meses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4462272"/>
            <a:ext cx="269748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612648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actual: Moderado</a:t>
            </a:r>
            <a:endParaRPr lang="en-US" sz="12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16B62F8-CC2F-AF33-16FD-E1BDE1004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93" y="1335024"/>
            <a:ext cx="7771214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2C362-1967-DAB7-035D-E6E41914A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3666A4-2BFD-19AF-2BC2-AA0D4CFF078B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4C3E0B5-062E-D2A2-325E-94174B94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D8E28AF-7553-7FF8-F8B0-B190664928FA}"/>
              </a:ext>
            </a:extLst>
          </p:cNvPr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CVaR y estado actual del sistema — junio 2026</a:t>
            </a:r>
            <a:endParaRPr lang="en-US" sz="2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946342D-C366-AD1B-A8F6-CE9BACC8CC6A}"/>
              </a:ext>
            </a:extLst>
          </p:cNvPr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2D03055-EB92-D30A-AD95-D2B041E01A42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21AB69D-B681-321E-3E07-5D3184439DCD}"/>
              </a:ext>
            </a:extLst>
          </p:cNvPr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C759D5A-AAEE-3652-9ACC-E9EB03756A8C}"/>
              </a:ext>
            </a:extLst>
          </p:cNvPr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7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0286610-82AF-51CD-3C2C-9791A8E0845D}"/>
              </a:ext>
            </a:extLst>
          </p:cNvPr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0BC7596-C946-7CBD-8591-9F0C70D2BE97}"/>
              </a:ext>
            </a:extLst>
          </p:cNvPr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aportes en 0.87 — por debajo del promedio normal (1.02) y cerca del promedio El Niño (0.82). Probabilidad de crisis: 14.7% normal / 26.8% El Niño.</a:t>
            </a:r>
            <a:endParaRPr lang="en-US" sz="11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70F0FAC3-7A8D-AEB2-8D9F-1D476D126891}"/>
              </a:ext>
            </a:extLst>
          </p:cNvPr>
          <p:cNvSpPr/>
          <p:nvPr/>
        </p:nvSpPr>
        <p:spPr>
          <a:xfrm>
            <a:off x="365760" y="4544568"/>
            <a:ext cx="841248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32FB77D-1660-8C9C-349D-29370D9D6AA7}"/>
              </a:ext>
            </a:extLst>
          </p:cNvPr>
          <p:cNvSpPr/>
          <p:nvPr/>
        </p:nvSpPr>
        <p:spPr>
          <a:xfrm>
            <a:off x="502920" y="4562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opera hoy en zona moderada — a 0.05 puntos del promedio El Niño. Este modelo permite cuantificar el costo de ese riesgo.</a:t>
            </a:r>
            <a:endParaRPr lang="en-US" sz="10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72707DD-188C-99C1-1DCA-A5AF65412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99031"/>
            <a:ext cx="8415401" cy="296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58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CVaR y estado actual del sistema — junio 2026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aportes en 0.87 — por debajo del promedio normal (1.02) y cerca del promedio El Niño (0.82). Probabilidad de crisis: 14.7% normal / 26.8% El Niño.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65760" y="4544568"/>
            <a:ext cx="841248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9"/>
          <p:cNvSpPr/>
          <p:nvPr/>
        </p:nvSpPr>
        <p:spPr>
          <a:xfrm>
            <a:off x="502920" y="4562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opera hoy en zona moderada — a 0.05 puntos del promedio El Niño. Este modelo permite cuantificar el costo de ese riesgo.</a:t>
            </a:r>
            <a:endParaRPr lang="en-US" sz="10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9E55040-B774-1D55-E659-F07B2B62A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01" y="1431968"/>
            <a:ext cx="8457598" cy="2741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356</Words>
  <Application>Microsoft Office PowerPoint</Application>
  <PresentationFormat>Presentación en pantalla (16:9)</PresentationFormat>
  <Paragraphs>34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Freddy Paez</cp:lastModifiedBy>
  <cp:revision>2</cp:revision>
  <dcterms:created xsi:type="dcterms:W3CDTF">2026-06-03T16:46:28Z</dcterms:created>
  <dcterms:modified xsi:type="dcterms:W3CDTF">2026-06-03T17:19:24Z</dcterms:modified>
</cp:coreProperties>
</file>